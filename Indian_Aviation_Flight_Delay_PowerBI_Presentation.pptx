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412480" y="0"/>
            <a:ext cx="3779215" cy="6858000"/>
          </a:xfrm>
          <a:prstGeom prst="rect">
            <a:avLst/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869680" y="1051560"/>
            <a:ext cx="2468880" cy="36576"/>
          </a:xfrm>
          <a:prstGeom prst="roundRect">
            <a:avLst>
              <a:gd name="adj" fmla="val 12000"/>
            </a:avLst>
          </a:prstGeom>
          <a:solidFill>
            <a:srgbClr val="2F4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326880" y="1828800"/>
            <a:ext cx="2011680" cy="36576"/>
          </a:xfrm>
          <a:prstGeom prst="roundRect">
            <a:avLst>
              <a:gd name="adj" fmla="val 12000"/>
            </a:avLst>
          </a:prstGeom>
          <a:solidFill>
            <a:srgbClr val="2F4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686800" y="2606040"/>
            <a:ext cx="2560320" cy="36576"/>
          </a:xfrm>
          <a:prstGeom prst="roundRect">
            <a:avLst>
              <a:gd name="adj" fmla="val 12000"/>
            </a:avLst>
          </a:prstGeom>
          <a:solidFill>
            <a:srgbClr val="2F4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144000" y="3383280"/>
            <a:ext cx="2194560" cy="36576"/>
          </a:xfrm>
          <a:prstGeom prst="roundRect">
            <a:avLst>
              <a:gd name="adj" fmla="val 12000"/>
            </a:avLst>
          </a:prstGeom>
          <a:solidFill>
            <a:srgbClr val="2F4B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41080" y="502920"/>
            <a:ext cx="283464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 i="0">
                <a:solidFill>
                  <a:srgbClr val="2DC4D3"/>
                </a:solidFill>
                <a:latin typeface="Aptos"/>
              </a:rPr>
              <a:t>✈</a:t>
            </a:r>
          </a:p>
        </p:txBody>
      </p:sp>
      <p:sp>
        <p:nvSpPr>
          <p:cNvPr id="8" name="Oval 7"/>
          <p:cNvSpPr/>
          <p:nvPr/>
        </p:nvSpPr>
        <p:spPr>
          <a:xfrm>
            <a:off x="8823960" y="4206240"/>
            <a:ext cx="109728" cy="109728"/>
          </a:xfrm>
          <a:prstGeom prst="ellipse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9646920" y="4572000"/>
            <a:ext cx="109728" cy="109728"/>
          </a:xfrm>
          <a:prstGeom prst="ellipse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61320" y="4069080"/>
            <a:ext cx="109728" cy="109728"/>
          </a:xfrm>
          <a:prstGeom prst="ellipse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09960" y="4800600"/>
            <a:ext cx="109728" cy="109728"/>
          </a:xfrm>
          <a:prstGeom prst="ellipse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058400" y="5486400"/>
            <a:ext cx="109728" cy="109728"/>
          </a:xfrm>
          <a:prstGeom prst="ellipse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8878824" y="4261104"/>
            <a:ext cx="822960" cy="365760"/>
          </a:xfrm>
          <a:prstGeom prst="line">
            <a:avLst/>
          </a:prstGeom>
          <a:ln w="28575">
            <a:solidFill>
              <a:srgbClr val="2B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701784" y="4123944"/>
            <a:ext cx="914400" cy="502920"/>
          </a:xfrm>
          <a:prstGeom prst="line">
            <a:avLst/>
          </a:prstGeom>
          <a:ln w="28575">
            <a:solidFill>
              <a:srgbClr val="2B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10616184" y="4123944"/>
            <a:ext cx="548640" cy="731520"/>
          </a:xfrm>
          <a:prstGeom prst="line">
            <a:avLst/>
          </a:prstGeom>
          <a:ln w="28575">
            <a:solidFill>
              <a:srgbClr val="2B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10113264" y="4855464"/>
            <a:ext cx="1051560" cy="685800"/>
          </a:xfrm>
          <a:prstGeom prst="line">
            <a:avLst/>
          </a:prstGeom>
          <a:ln w="28575">
            <a:solidFill>
              <a:srgbClr val="2B75D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9808" y="731520"/>
            <a:ext cx="2011680" cy="310896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59" y="768096"/>
            <a:ext cx="186537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DC4D3"/>
                </a:solidFill>
                <a:latin typeface="Aptos"/>
              </a:rPr>
              <a:t>POWER BI PROJECT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9808" y="1508760"/>
            <a:ext cx="7132320" cy="1554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000" b="1" i="0">
                <a:solidFill>
                  <a:srgbClr val="FFFFFF"/>
                </a:solidFill>
                <a:latin typeface="Aptos"/>
              </a:rPr>
              <a:t>Indian Aviation Flight Delay
&amp; Operational Risk Analytics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68096" y="3337560"/>
            <a:ext cx="667512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 i="0">
                <a:solidFill>
                  <a:srgbClr val="C4D5E7"/>
                </a:solidFill>
                <a:latin typeface="Aptos"/>
              </a:rPr>
              <a:t>Interactive Data Analysis Using Power BI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68096" y="4114800"/>
            <a:ext cx="777240" cy="54864"/>
          </a:xfrm>
          <a:prstGeom prst="rect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8096" y="4434840"/>
            <a:ext cx="621792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4D5E7"/>
                </a:solidFill>
                <a:latin typeface="Aptos"/>
              </a:rPr>
              <a:t>Flight Delays • Weather • Airport Operations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8096" y="5669280"/>
            <a:ext cx="594360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ptos"/>
              </a:rPr>
              <a:t>Presented by: Anushka Jaiswal  |  Roll No. 12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8096" y="6080760"/>
            <a:ext cx="411480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 i="0">
                <a:solidFill>
                  <a:srgbClr val="9EB5CD"/>
                </a:solidFill>
                <a:latin typeface="Aptos"/>
              </a:rPr>
              <a:t>BBA Business Analytics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B75DC"/>
                </a:solidFill>
                <a:latin typeface="Aptos"/>
              </a:rPr>
              <a:t>01  /  PROJECT INTRODUCTION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D1F38"/>
                </a:solidFill>
                <a:latin typeface="Aptos"/>
              </a:rPr>
              <a:t>Understanding the problem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7084"/>
                </a:solidFill>
                <a:latin typeface="Aptos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4709160" cy="4389120"/>
          </a:xfrm>
          <a:prstGeom prst="roundRect">
            <a:avLst>
              <a:gd name="adj" fmla="val 12000"/>
            </a:avLst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965960"/>
            <a:ext cx="40690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C4D3"/>
                </a:solidFill>
                <a:latin typeface="Aptos"/>
              </a:rPr>
              <a:t>WHY FLIGHT DELAYS 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487168"/>
            <a:ext cx="3977639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Delays affect passengers,
airlines and airport schedules.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794760"/>
            <a:ext cx="388620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C7D6E6"/>
                </a:solidFill>
                <a:latin typeface="Aptos"/>
              </a:rPr>
              <a:t>Weather conditions, airport congestion and late-arriving aircraft can disrupt planned departure times.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0120" y="516636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33272" y="5202936"/>
            <a:ext cx="127101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DC4D3"/>
                </a:solidFill>
                <a:latin typeface="Aptos"/>
              </a:rPr>
              <a:t>WEATHER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14600" y="5166360"/>
            <a:ext cx="1417320" cy="310896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87752" y="5202936"/>
            <a:ext cx="127101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DC4D3"/>
                </a:solidFill>
                <a:latin typeface="Aptos"/>
              </a:rPr>
              <a:t>CONGESTION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69080" y="5166360"/>
            <a:ext cx="1005840" cy="310896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42232" y="5202936"/>
            <a:ext cx="859536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 i="0">
                <a:solidFill>
                  <a:srgbClr val="2DC4D3"/>
                </a:solidFill>
                <a:latin typeface="Aptos"/>
              </a:rPr>
              <a:t>DELAYS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97880" y="1828800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75DC"/>
                </a:solidFill>
                <a:latin typeface="Aptos"/>
              </a:rPr>
              <a:t>PROJECT GOAL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97880" y="2331720"/>
            <a:ext cx="5303520" cy="11430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200" b="1" i="0">
                <a:solidFill>
                  <a:srgbClr val="0D1F38"/>
                </a:solidFill>
                <a:latin typeface="Aptos"/>
              </a:rPr>
              <a:t>Use Power BI to explore flight-delay patterns and operational risk.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897880" y="3794760"/>
            <a:ext cx="521208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72200" y="4041648"/>
            <a:ext cx="4663440" cy="6583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1F2F41"/>
                </a:solidFill>
                <a:latin typeface="Aptos"/>
              </a:rPr>
              <a:t>Turn flight data into clear visuals that support better planning and punctuality.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5303520"/>
            <a:ext cx="5212080" cy="5486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5D7084"/>
                </a:solidFill>
                <a:latin typeface="Aptos"/>
              </a:rPr>
              <a:t>Scope: airline performance • weather • airport activity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B75DC"/>
                </a:solidFill>
                <a:latin typeface="Aptos"/>
              </a:rPr>
              <a:t>02  /  WHAT THE DASHBOARD AIMS TO 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D1F38"/>
                </a:solidFill>
                <a:latin typeface="Aptos"/>
              </a:rPr>
              <a:t>Project objectives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7084"/>
                </a:solidFill>
                <a:latin typeface="Aptos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31272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0195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B75DC"/>
                </a:solidFill>
                <a:latin typeface="Apto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F38"/>
                </a:solidFill>
                <a:latin typeface="Aptos"/>
              </a:rPr>
              <a:t>Identify delay patterns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724912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Explore common factors linked with departure delays.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60520" y="1737360"/>
            <a:ext cx="31272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61688" y="190195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DC4D3"/>
                </a:solidFill>
                <a:latin typeface="Aptos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61688" y="2331720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F38"/>
                </a:solidFill>
                <a:latin typeface="Aptos"/>
              </a:rPr>
              <a:t>Compare airlines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724912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Review on-time and delayed flight counts across airlines.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07808" y="1737360"/>
            <a:ext cx="31272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808976" y="1901952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F59F42"/>
                </a:solidFill>
                <a:latin typeface="Aptos"/>
              </a:rP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08976" y="2331720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F38"/>
                </a:solidFill>
                <a:latin typeface="Aptos"/>
              </a:rPr>
              <a:t>Explore weather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08976" y="2724912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Compare flight and delay patterns across weather conditions.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23160" y="3886200"/>
            <a:ext cx="31272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24328" y="4050791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CA078"/>
                </a:solidFill>
                <a:latin typeface="Aptos"/>
              </a:rPr>
              <a:t>04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624328" y="4480560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F38"/>
                </a:solidFill>
                <a:latin typeface="Aptos"/>
              </a:rPr>
              <a:t>Review airport activity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624328" y="4873752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Examine congestion indicators at major airports.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870448" y="3886200"/>
            <a:ext cx="3127248" cy="162763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071616" y="4050791"/>
            <a:ext cx="54864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 i="0">
                <a:solidFill>
                  <a:srgbClr val="2B75DC"/>
                </a:solidFill>
                <a:latin typeface="Aptos"/>
              </a:rPr>
              <a:t>05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71616" y="4480560"/>
            <a:ext cx="26974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0D1F38"/>
                </a:solidFill>
                <a:latin typeface="Aptos"/>
              </a:rPr>
              <a:t>Build an interactive report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71616" y="4873752"/>
            <a:ext cx="2697480" cy="4389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Bring key metrics and visuals into one Power BI page.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B75DC"/>
                </a:solidFill>
                <a:latin typeface="Aptos"/>
              </a:rPr>
              <a:t>03  /  DATA USED IN THE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D1F38"/>
                </a:solidFill>
                <a:latin typeface="Aptos"/>
              </a:rPr>
              <a:t>Dataset at a glance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7084"/>
                </a:solidFill>
                <a:latin typeface="Aptos"/>
              </a:rPr>
              <a:t>04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45920"/>
            <a:ext cx="2926080" cy="4297680"/>
          </a:xfrm>
          <a:prstGeom prst="roundRect">
            <a:avLst>
              <a:gd name="adj" fmla="val 12000"/>
            </a:avLst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1938528"/>
            <a:ext cx="23317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C4D3"/>
                </a:solidFill>
                <a:latin typeface="Aptos"/>
              </a:rPr>
              <a:t>DATASET SCOPE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2688" y="2423160"/>
            <a:ext cx="2331720" cy="7315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Aptos"/>
              </a:rPr>
              <a:t>150K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3136392"/>
            <a:ext cx="22860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C6D6E7"/>
                </a:solidFill>
                <a:latin typeface="Aptos"/>
              </a:rPr>
              <a:t>flight records shown in report</a:t>
            </a:r>
          </a:p>
        </p:txBody>
      </p:sp>
      <p:sp>
        <p:nvSpPr>
          <p:cNvPr id="10" name="Rectangle 9"/>
          <p:cNvSpPr/>
          <p:nvPr/>
        </p:nvSpPr>
        <p:spPr>
          <a:xfrm>
            <a:off x="932688" y="3703320"/>
            <a:ext cx="2103120" cy="27432"/>
          </a:xfrm>
          <a:prstGeom prst="rect">
            <a:avLst/>
          </a:prstGeom>
          <a:solidFill>
            <a:srgbClr val="3651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3977639"/>
            <a:ext cx="2240280" cy="32004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C4D3"/>
                </a:solidFill>
                <a:latin typeface="Aptos"/>
              </a:rPr>
              <a:t>FIELDS GROUPED INTO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4434840"/>
            <a:ext cx="2240280" cy="9144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Aptos"/>
              </a:rPr>
              <a:t>Airline • Delay
Airport • Risk
Weather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1737360"/>
            <a:ext cx="34747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977639" y="173736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06240" y="196596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75DC"/>
                </a:solidFill>
                <a:latin typeface="Aptos"/>
              </a:rPr>
              <a:t>AIRLINE &amp; ROUTE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6240" y="2450591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Airline • Flight_Number
Origin_Airport • Destination_Airport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818120" y="1737360"/>
            <a:ext cx="34747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818120" y="173736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196596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F42"/>
                </a:solidFill>
                <a:latin typeface="Aptos"/>
              </a:rPr>
              <a:t>DELAY MEASURES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2450591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Departure_Delay
Previous_Flight_Delay_Minutes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977639" y="3794760"/>
            <a:ext cx="34747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977639" y="379476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2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02336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CA078"/>
                </a:solidFill>
                <a:latin typeface="Aptos"/>
              </a:rPr>
              <a:t>AIRPORT &amp; RISK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206240" y="4507992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Origin_Congestion_Index
Turnaround_Risk_Index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818120" y="3794760"/>
            <a:ext cx="3474720" cy="16916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7818120" y="3794760"/>
            <a:ext cx="73152" cy="1691640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0" y="4023360"/>
            <a:ext cx="2926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C4D3"/>
                </a:solidFill>
                <a:latin typeface="Aptos"/>
              </a:rPr>
              <a:t>WEATHER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4507992"/>
            <a:ext cx="2926080" cy="6400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Weather • Temperature
Wind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977639" y="5806440"/>
            <a:ext cx="726948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1">
                <a:solidFill>
                  <a:srgbClr val="5D7084"/>
                </a:solidFill>
                <a:latin typeface="Aptos"/>
              </a:rPr>
              <a:t>Source: domestic flight dataset used for this Power BI project.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B75DC"/>
                </a:solidFill>
                <a:latin typeface="Aptos"/>
              </a:rPr>
              <a:t>04  /  SIX HEADLINE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D1F38"/>
                </a:solidFill>
                <a:latin typeface="Aptos"/>
              </a:rPr>
              <a:t>Key performance indicators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7084"/>
                </a:solidFill>
                <a:latin typeface="Aptos"/>
              </a:rPr>
              <a:t>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13232" y="17373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713232" y="17373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96112" y="190195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D7084"/>
                </a:solidFill>
                <a:latin typeface="Aptos"/>
              </a:rPr>
              <a:t>TOTAL FLIGHTS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249424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D1F38"/>
                </a:solidFill>
                <a:latin typeface="Aptos"/>
              </a:rPr>
              <a:t>150K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2724912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D7084"/>
                </a:solidFill>
                <a:latin typeface="Aptos"/>
              </a:rPr>
              <a:t>Flights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35424" y="17373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35424" y="17373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8304" y="190195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D7084"/>
                </a:solidFill>
                <a:latin typeface="Aptos"/>
              </a:rPr>
              <a:t>AVG. DEPARTURE DELAY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8304" y="2249424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D1F38"/>
                </a:solidFill>
                <a:latin typeface="Aptos"/>
              </a:rPr>
              <a:t>42.66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8304" y="2724912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D7084"/>
                </a:solidFill>
                <a:latin typeface="Aptos"/>
              </a:rPr>
              <a:t>Minutes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57615" y="173736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357615" y="173736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DC53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0495" y="1901952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D7084"/>
                </a:solidFill>
                <a:latin typeface="Aptos"/>
              </a:rPr>
              <a:t>MAX. TURNAROUND RISK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0495" y="2249424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D1F38"/>
                </a:solidFill>
                <a:latin typeface="Aptos"/>
              </a:rPr>
              <a:t>88.20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40495" y="2724912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D7084"/>
                </a:solidFill>
                <a:latin typeface="Aptos"/>
              </a:rPr>
              <a:t>Index value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13232" y="370332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713232" y="370332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3867911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D7084"/>
                </a:solidFill>
                <a:latin typeface="Aptos"/>
              </a:rPr>
              <a:t>AVG. TEMPERATURE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" y="4215383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D1F38"/>
                </a:solidFill>
                <a:latin typeface="Aptos"/>
              </a:rPr>
              <a:t>27.03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" y="4690872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D7084"/>
                </a:solidFill>
                <a:latin typeface="Aptos"/>
              </a:rPr>
              <a:t>°C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35424" y="370332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35424" y="370332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2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718304" y="3867911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D7084"/>
                </a:solidFill>
                <a:latin typeface="Aptos"/>
              </a:rPr>
              <a:t>AVG. WIND SPEED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18304" y="4215383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D1F38"/>
                </a:solidFill>
                <a:latin typeface="Aptos"/>
              </a:rPr>
              <a:t>5.99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18304" y="4690872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D7084"/>
                </a:solidFill>
                <a:latin typeface="Aptos"/>
              </a:rPr>
              <a:t>Knots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57615" y="3703320"/>
            <a:ext cx="3429000" cy="1508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357615" y="3703320"/>
            <a:ext cx="64008" cy="150876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540495" y="3867911"/>
            <a:ext cx="31089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 i="0">
                <a:solidFill>
                  <a:srgbClr val="5D7084"/>
                </a:solidFill>
                <a:latin typeface="Aptos"/>
              </a:rPr>
              <a:t>TOTAL INCOMING DELAY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40495" y="4215383"/>
            <a:ext cx="3108960" cy="47548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0D1F38"/>
                </a:solidFill>
                <a:latin typeface="Aptos"/>
              </a:rPr>
              <a:t>926K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40495" y="4690872"/>
            <a:ext cx="3108960" cy="20116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5D7084"/>
                </a:solidFill>
                <a:latin typeface="Aptos"/>
              </a:rPr>
              <a:t>Minutes*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49808" y="5897880"/>
            <a:ext cx="10652760" cy="384048"/>
          </a:xfrm>
          <a:prstGeom prst="roundRect">
            <a:avLst>
              <a:gd name="adj" fmla="val 12000"/>
            </a:avLst>
          </a:prstGeom>
          <a:solidFill>
            <a:srgbClr val="DD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32688" y="5980176"/>
            <a:ext cx="102412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D5B80"/>
                </a:solidFill>
                <a:latin typeface="Aptos"/>
              </a:rPr>
              <a:t>*Confirm the incoming-delay unit and the meaning of the turnaround-risk index against the dataset before presenting.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B75DC"/>
                </a:solidFill>
                <a:latin typeface="Aptos"/>
              </a:rPr>
              <a:t>05  /  HOW TO READ THE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D1F38"/>
                </a:solidFill>
                <a:latin typeface="Aptos"/>
              </a:rPr>
              <a:t>Dashboard &amp; visualizations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7084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1664208"/>
            <a:ext cx="4572000" cy="4526280"/>
          </a:xfrm>
          <a:prstGeom prst="roundRect">
            <a:avLst>
              <a:gd name="adj" fmla="val 12000"/>
            </a:avLst>
          </a:prstGeom>
          <a:solidFill>
            <a:srgbClr val="0D1F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874519"/>
            <a:ext cx="39319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 i="0">
                <a:solidFill>
                  <a:srgbClr val="2DC4D3"/>
                </a:solidFill>
                <a:latin typeface="Aptos"/>
              </a:rPr>
              <a:t>INTERACTIVE POWER BI DASHBOARD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2331720"/>
            <a:ext cx="1188720" cy="749808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2450592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150K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" y="2761488"/>
            <a:ext cx="1042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ED0E4"/>
                </a:solidFill>
                <a:latin typeface="Aptos"/>
              </a:rPr>
              <a:t>Flights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240280" y="2331720"/>
            <a:ext cx="1188720" cy="749808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450592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42.66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13432" y="2761488"/>
            <a:ext cx="1042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ED0E4"/>
                </a:solidFill>
                <a:latin typeface="Aptos"/>
              </a:rPr>
              <a:t>Avg delay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566160" y="2331720"/>
            <a:ext cx="1188720" cy="749808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57600" y="2450592"/>
            <a:ext cx="1005840" cy="25603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Aptos"/>
              </a:rPr>
              <a:t>27.03°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9312" y="2761488"/>
            <a:ext cx="1042415" cy="16459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800" b="0" i="0">
                <a:solidFill>
                  <a:srgbClr val="BED0E4"/>
                </a:solidFill>
                <a:latin typeface="Aptos"/>
              </a:rPr>
              <a:t>Temp.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3337560"/>
            <a:ext cx="1965960" cy="1143000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78992" y="3456432"/>
            <a:ext cx="16459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2DC4D3"/>
                </a:solidFill>
                <a:latin typeface="Aptos"/>
              </a:rPr>
              <a:t>AIRLINE PERFORMANCE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097280" y="3813048"/>
            <a:ext cx="164592" cy="41148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399032" y="3602736"/>
            <a:ext cx="164592" cy="621792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00784" y="3877056"/>
            <a:ext cx="164592" cy="347472"/>
          </a:xfrm>
          <a:prstGeom prst="roundRect">
            <a:avLst>
              <a:gd name="adj" fmla="val 12000"/>
            </a:avLst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2002536" y="3493008"/>
            <a:ext cx="164592" cy="73152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2304288" y="3712464"/>
            <a:ext cx="164592" cy="512064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090672" y="3337560"/>
            <a:ext cx="1783080" cy="1143000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46120" y="3456432"/>
            <a:ext cx="146304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2DC4D3"/>
                </a:solidFill>
                <a:latin typeface="Aptos"/>
              </a:rPr>
              <a:t>WEATHER SHARE</a:t>
            </a:r>
          </a:p>
        </p:txBody>
      </p:sp>
      <p:sp>
        <p:nvSpPr>
          <p:cNvPr id="26" name="Oval 25"/>
          <p:cNvSpPr/>
          <p:nvPr/>
        </p:nvSpPr>
        <p:spPr>
          <a:xfrm>
            <a:off x="3337560" y="3749039"/>
            <a:ext cx="640080" cy="640080"/>
          </a:xfrm>
          <a:prstGeom prst="ellipse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730752" y="3840479"/>
            <a:ext cx="457200" cy="457200"/>
          </a:xfrm>
          <a:prstGeom prst="ellipse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4123944" y="3922776"/>
            <a:ext cx="292608" cy="292608"/>
          </a:xfrm>
          <a:prstGeom prst="ellipse">
            <a:avLst/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14400" y="4709160"/>
            <a:ext cx="3959352" cy="960120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78992" y="4828032"/>
            <a:ext cx="347472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1" i="0">
                <a:solidFill>
                  <a:srgbClr val="2DC4D3"/>
                </a:solidFill>
                <a:latin typeface="Aptos"/>
              </a:rPr>
              <a:t>DELAY &amp; AIRPORT TRENDS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97280" y="5212080"/>
            <a:ext cx="137160" cy="27432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35607" y="5047488"/>
            <a:ext cx="137160" cy="438912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1773936" y="5120640"/>
            <a:ext cx="137160" cy="36576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2112263" y="4919472"/>
            <a:ext cx="137160" cy="566928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2450591" y="5029200"/>
            <a:ext cx="137160" cy="45720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2788920" y="4828032"/>
            <a:ext cx="137160" cy="658368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3127248" y="5074920"/>
            <a:ext cx="137160" cy="41148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465576" y="4956048"/>
            <a:ext cx="137160" cy="530352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3803904" y="5166360"/>
            <a:ext cx="137160" cy="32004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4142232" y="4873752"/>
            <a:ext cx="137160" cy="612648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ounded Rectangle 40"/>
          <p:cNvSpPr/>
          <p:nvPr/>
        </p:nvSpPr>
        <p:spPr>
          <a:xfrm>
            <a:off x="5669280" y="1810512"/>
            <a:ext cx="73152" cy="530352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97880" y="1783080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1F38"/>
                </a:solidFill>
                <a:latin typeface="Aptos"/>
              </a:rPr>
              <a:t>Airline performance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897880" y="2103120"/>
            <a:ext cx="5303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Compare flight counts by delay status and airline.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669280" y="2660903"/>
            <a:ext cx="73152" cy="530352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897880" y="2633472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1F38"/>
                </a:solidFill>
                <a:latin typeface="Aptos"/>
              </a:rPr>
              <a:t>Airport congestion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897880" y="2953512"/>
            <a:ext cx="5303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Review congestion indicators across weather categories.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0" y="3511296"/>
            <a:ext cx="73152" cy="530352"/>
          </a:xfrm>
          <a:prstGeom prst="roundRect">
            <a:avLst>
              <a:gd name="adj" fmla="val 12000"/>
            </a:avLst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897880" y="3483864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1F38"/>
                </a:solidFill>
                <a:latin typeface="Aptos"/>
              </a:rPr>
              <a:t>Incoming vs departure delay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897880" y="3803904"/>
            <a:ext cx="5303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Explore how earlier delays relate to departure delays.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5669280" y="4361688"/>
            <a:ext cx="73152" cy="530352"/>
          </a:xfrm>
          <a:prstGeom prst="roundRect">
            <a:avLst>
              <a:gd name="adj" fmla="val 12000"/>
            </a:avLst>
          </a:prstGeom>
          <a:solidFill>
            <a:srgbClr val="2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897880" y="4334256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1F38"/>
                </a:solidFill>
                <a:latin typeface="Aptos"/>
              </a:rPr>
              <a:t>Hourly delay trends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5897880" y="4654296"/>
            <a:ext cx="5303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Identify periods with higher recorded delays.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5669280" y="5212080"/>
            <a:ext cx="73152" cy="530352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897880" y="5184648"/>
            <a:ext cx="52120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0D1F38"/>
                </a:solidFill>
                <a:latin typeface="Aptos"/>
              </a:rPr>
              <a:t>Weather share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897880" y="5504688"/>
            <a:ext cx="5303520" cy="3840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5D7084"/>
                </a:solidFill>
                <a:latin typeface="Aptos"/>
              </a:rPr>
              <a:t>Compare how flights are distributed across weather conditions.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F5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B75DC"/>
                </a:solidFill>
                <a:latin typeface="Aptos"/>
              </a:rPr>
              <a:t>06  /  READING PATTERNS RESPONSIBLY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0D1F38"/>
                </a:solidFill>
                <a:latin typeface="Aptos"/>
              </a:rPr>
              <a:t>Key insights to investigate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5D7084"/>
                </a:solidFill>
                <a:latin typeface="Aptos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572768"/>
            <a:ext cx="10515600" cy="3657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1">
                <a:solidFill>
                  <a:srgbClr val="5D7084"/>
                </a:solidFill>
                <a:latin typeface="Aptos"/>
              </a:rPr>
              <a:t>Use the dashboard to test these patterns; report them as findings only when the visuals support them.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14884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31520" y="214884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2350008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DC4D3"/>
                </a:solidFill>
                <a:latin typeface="Aptos"/>
              </a:rPr>
              <a:t>WEATHER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743200"/>
            <a:ext cx="4526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Check whether rain and heavy rain are associated with higher average departure delays.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214884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63640" y="214884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2B75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2350008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B75DC"/>
                </a:solidFill>
                <a:latin typeface="Aptos"/>
              </a:rPr>
              <a:t>DOMINO EFFECT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743200"/>
            <a:ext cx="4526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Compare previous-flight delay with the next flight’s departure delay.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379476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731520" y="379476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F59F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3995928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F59F42"/>
                </a:solidFill>
                <a:latin typeface="Aptos"/>
              </a:rPr>
              <a:t>BUSY HOURS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4389120"/>
            <a:ext cx="4526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Identify hours with higher delay levels, then compare across major airports.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63640" y="3794760"/>
            <a:ext cx="5074920" cy="1325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263640" y="3794760"/>
            <a:ext cx="73152" cy="1325880"/>
          </a:xfrm>
          <a:prstGeom prst="roundRect">
            <a:avLst>
              <a:gd name="adj" fmla="val 12000"/>
            </a:avLst>
          </a:prstGeom>
          <a:solidFill>
            <a:srgbClr val="2CA0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995928"/>
            <a:ext cx="448056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 i="0">
                <a:solidFill>
                  <a:srgbClr val="2CA078"/>
                </a:solidFill>
                <a:latin typeface="Aptos"/>
              </a:rPr>
              <a:t>AIRLINE COMPARISON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89120"/>
            <a:ext cx="4526280" cy="512064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1F2F41"/>
                </a:solidFill>
                <a:latin typeface="Aptos"/>
              </a:rPr>
              <a:t>Compare delay rates as well as flight counts for a fair airline comparison.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5669280"/>
            <a:ext cx="10607040" cy="475488"/>
          </a:xfrm>
          <a:prstGeom prst="roundRect">
            <a:avLst>
              <a:gd name="adj" fmla="val 12000"/>
            </a:avLst>
          </a:prstGeom>
          <a:solidFill>
            <a:srgbClr val="DDE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797296"/>
            <a:ext cx="10241280" cy="21031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 i="0">
                <a:solidFill>
                  <a:srgbClr val="3D5B80"/>
                </a:solidFill>
                <a:latin typeface="Aptos"/>
              </a:rPr>
              <a:t>Important: charts show associations in this dataset; they do not prove that one factor directly causes a delay.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F3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58368" y="384048"/>
            <a:ext cx="10789920" cy="2286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1" i="0">
                <a:solidFill>
                  <a:srgbClr val="2DC4D3"/>
                </a:solidFill>
                <a:latin typeface="Aptos"/>
              </a:rPr>
              <a:t>07  / 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58368" y="685800"/>
            <a:ext cx="10881360" cy="5029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" y="1307592"/>
            <a:ext cx="640080" cy="50292"/>
          </a:xfrm>
          <a:prstGeom prst="rect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09960" y="6473952"/>
            <a:ext cx="411480" cy="1828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1" i="0">
                <a:solidFill>
                  <a:srgbClr val="BDCFE2"/>
                </a:solidFill>
                <a:latin typeface="Aptos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49808" y="1691640"/>
            <a:ext cx="6583680" cy="105156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500" b="1" i="0">
                <a:solidFill>
                  <a:srgbClr val="FFFFFF"/>
                </a:solidFill>
                <a:latin typeface="Aptos"/>
              </a:rPr>
              <a:t>A single interactive view of flight delays, weather and airport operations.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8096" y="2944368"/>
            <a:ext cx="6492240" cy="68580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 i="0">
                <a:solidFill>
                  <a:srgbClr val="C6D6E7"/>
                </a:solidFill>
                <a:latin typeface="Aptos"/>
              </a:rPr>
              <a:t>Power BI helps compare patterns and highlight areas that may need closer operational review.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18120" y="1691640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0" y="185623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DC4D3"/>
                </a:solidFill>
                <a:latin typeface="Aptos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3794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Monitor delay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49640" y="2167128"/>
            <a:ext cx="2560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4D5E7"/>
                </a:solidFill>
                <a:latin typeface="Aptos"/>
              </a:rPr>
              <a:t>Track delay levels across airlines, airports and time periods.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818120" y="2926080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0" y="309067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2B75DC"/>
                </a:solidFill>
                <a:latin typeface="Aptos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49640" y="307238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Plan for disruption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49640" y="3401568"/>
            <a:ext cx="2560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4D5E7"/>
                </a:solidFill>
                <a:latin typeface="Aptos"/>
              </a:rPr>
              <a:t>Review weather and incoming-flight delays when planning schedules.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818120" y="4160520"/>
            <a:ext cx="3611880" cy="960120"/>
          </a:xfrm>
          <a:prstGeom prst="roundRect">
            <a:avLst>
              <a:gd name="adj" fmla="val 12000"/>
            </a:avLst>
          </a:prstGeom>
          <a:solidFill>
            <a:srgbClr val="142D4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0" y="4325112"/>
            <a:ext cx="41148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59F42"/>
                </a:solidFill>
                <a:latin typeface="Aptos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306824"/>
            <a:ext cx="256032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Aptos"/>
              </a:rPr>
              <a:t>Improve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636008"/>
            <a:ext cx="2560320" cy="347472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0" i="0">
                <a:solidFill>
                  <a:srgbClr val="C4D5E7"/>
                </a:solidFill>
                <a:latin typeface="Aptos"/>
              </a:rPr>
              <a:t>Use evidence from the dashboard to guide further investigation.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68096" y="5166360"/>
            <a:ext cx="914400" cy="50292"/>
          </a:xfrm>
          <a:prstGeom prst="rect">
            <a:avLst/>
          </a:prstGeom>
          <a:solidFill>
            <a:srgbClr val="2DC4D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68096" y="5486400"/>
            <a:ext cx="4572000" cy="4114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Aptos"/>
              </a:rPr>
              <a:t>Thank you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8096" y="5989320"/>
            <a:ext cx="5943600" cy="27432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ABC3DA"/>
                </a:solidFill>
                <a:latin typeface="Aptos"/>
              </a:rPr>
              <a:t>Questions &amp; Discussion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